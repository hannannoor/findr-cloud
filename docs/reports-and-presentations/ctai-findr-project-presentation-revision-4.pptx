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920240"/>
            <a:ext cx="6766560" cy="6766560"/>
          </a:xfrm>
          <a:prstGeom prst="ellipse">
            <a:avLst/>
          </a:prstGeom>
          <a:solidFill>
            <a:srgbClr val="12325C"/>
          </a:solidFill>
          <a:ln w="12700">
            <a:solidFill>
              <a:srgbClr val="1232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657600"/>
            <a:ext cx="4206240" cy="4206240"/>
          </a:xfrm>
          <a:prstGeom prst="ellipse">
            <a:avLst/>
          </a:prstGeom>
          <a:solidFill>
            <a:srgbClr val="0E2A4E"/>
          </a:solidFill>
          <a:ln w="12700">
            <a:solidFill>
              <a:srgbClr val="0E2A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CAI2C09  CLOUD TECHNOLOGIES FOR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Findr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777240" y="29900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 campus lost and found platform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B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it. Prove it's yours. Get it back.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Hannan Noor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XXXXXXXX   ·   Class group PC02   ·   Tutor: Lee Jin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550468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img/tp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632704"/>
            <a:ext cx="1737360" cy="484632"/>
          </a:xfrm>
          <a:prstGeom prst="rect">
            <a:avLst/>
          </a:prstGeom>
        </p:spPr>
      </p:pic>
      <p:pic>
        <p:nvPicPr>
          <p:cNvPr id="11" name="Image 1" descr="img/90-ui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331720"/>
            <a:ext cx="4937760" cy="243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77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website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B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property at TP is scattered. The main security office holds some, there is a box at the sports hall near the grandstand, and the canteens keep their own. Nothing connects them, so a student has to guess which one to try.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703320"/>
            <a:ext cx="384048" cy="384048"/>
          </a:xfrm>
          <a:prstGeom prst="ellipse">
            <a:avLst/>
          </a:prstGeom>
          <a:solidFill>
            <a:srgbClr val="F0B357"/>
          </a:solidFill>
          <a:ln w="12700">
            <a:solidFill>
              <a:srgbClr val="F0B3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look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collection point in one 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4544568"/>
            <a:ext cx="384048" cy="384048"/>
          </a:xfrm>
          <a:prstGeom prst="ellipse">
            <a:avLst/>
          </a:prstGeom>
          <a:solidFill>
            <a:srgbClr val="F0B357"/>
          </a:solidFill>
          <a:ln w="12700">
            <a:solidFill>
              <a:srgbClr val="F0B3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498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for you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773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photograph is the whole 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5385816"/>
            <a:ext cx="384048" cy="384048"/>
          </a:xfrm>
          <a:prstGeom prst="ellipse">
            <a:avLst/>
          </a:prstGeom>
          <a:solidFill>
            <a:srgbClr val="F0B357"/>
          </a:solidFill>
          <a:ln w="12700">
            <a:solidFill>
              <a:srgbClr val="F0B3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5340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yours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5614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only the owner can answer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263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d3d5h347656j6.cloudfront.net</a:t>
            </a:r>
            <a:endParaRPr lang="en-US" sz="1200" dirty="0"/>
          </a:p>
        </p:txBody>
      </p:sp>
      <p:pic>
        <p:nvPicPr>
          <p:cNvPr id="19" name="Image 0" descr="img/90-ui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868680"/>
            <a:ext cx="5440680" cy="2680166"/>
          </a:xfrm>
          <a:prstGeom prst="rect">
            <a:avLst/>
          </a:prstGeom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pic>
      <p:pic>
        <p:nvPicPr>
          <p:cNvPr id="20" name="Image 1" descr="img/91-ui-brow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6" y="3749040"/>
            <a:ext cx="5440680" cy="2691885"/>
          </a:xfrm>
          <a:prstGeom prst="rect">
            <a:avLst/>
          </a:prstGeom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PAGES, ONE JOB 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app</a:t>
            </a:r>
            <a:endParaRPr lang="en-US" sz="3300" dirty="0"/>
          </a:p>
        </p:txBody>
      </p:sp>
      <p:pic>
        <p:nvPicPr>
          <p:cNvPr id="4" name="Image 0" descr="img/93-ui-item-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6675120" cy="3283532"/>
          </a:xfrm>
          <a:prstGeom prst="rect">
            <a:avLst/>
          </a:prstGeom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4828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details. The photograph, where it was found, and the labels the image recognition returned.</a:t>
            </a:r>
            <a:endParaRPr lang="en-US" sz="1100" dirty="0"/>
          </a:p>
        </p:txBody>
      </p:sp>
      <p:pic>
        <p:nvPicPr>
          <p:cNvPr id="6" name="Image 1" descr="img/100-ui-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17320"/>
            <a:ext cx="4160520" cy="2070401"/>
          </a:xfrm>
          <a:prstGeom prst="rect">
            <a:avLst/>
          </a:prstGeom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7452360" y="354787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map. Each marker is the item's own photograph.</a:t>
            </a:r>
            <a:endParaRPr lang="en-US" sz="1100" dirty="0"/>
          </a:p>
        </p:txBody>
      </p:sp>
      <p:pic>
        <p:nvPicPr>
          <p:cNvPr id="8" name="Image 2" descr="img/99-ui-admin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023360"/>
            <a:ext cx="4160520" cy="2068235"/>
          </a:xfrm>
          <a:prstGeom prst="rect">
            <a:avLst/>
          </a:prstGeom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7452360" y="61539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dashboard. Every report, filterable and exportable.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603504" y="5321808"/>
            <a:ext cx="109728" cy="109728"/>
          </a:xfrm>
          <a:prstGeom prst="ellipse">
            <a:avLst/>
          </a:prstGeom>
          <a:solidFill>
            <a:srgbClr val="D97A20"/>
          </a:solidFill>
          <a:ln w="12700">
            <a:solidFill>
              <a:srgbClr val="D97A2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96112" y="5257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seconds  </a:t>
            </a:r>
            <a:pPr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and the category and description arrive filled in.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03504" y="5870448"/>
            <a:ext cx="109728" cy="109728"/>
          </a:xfrm>
          <a:prstGeom prst="ellipse">
            <a:avLst/>
          </a:prstGeom>
          <a:solidFill>
            <a:srgbClr val="D97A20"/>
          </a:solidFill>
          <a:ln w="12700">
            <a:solidFill>
              <a:srgbClr val="D97A2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96112" y="58064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without sharing a number  </a:t>
            </a:r>
            <a:pPr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keeps the handover inside the platform.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03504" y="6419088"/>
            <a:ext cx="109728" cy="109728"/>
          </a:xfrm>
          <a:prstGeom prst="ellipse">
            <a:avLst/>
          </a:prstGeom>
          <a:solidFill>
            <a:srgbClr val="D97A20"/>
          </a:solidFill>
          <a:ln w="12700">
            <a:solidFill>
              <a:srgbClr val="D97A2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96112" y="6355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in your language  </a:t>
            </a:r>
            <a:pPr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listing, in English, Chinese, Malay or Tamil.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SERVICES, THREE JOBS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Breakdown of services used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493008" cy="4846320"/>
          </a:xfrm>
          <a:prstGeom prst="roundRect">
            <a:avLst>
              <a:gd name="adj" fmla="val 2094"/>
            </a:avLst>
          </a:prstGeom>
          <a:solidFill>
            <a:srgbClr val="12325C"/>
          </a:solidFill>
          <a:ln w="9525">
            <a:solidFill>
              <a:srgbClr val="1232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0B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SECURITY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delivery, managed firewall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site bucket and photo storage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279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5537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Sign-in, JWTs, the admin group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312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5869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least-privilege Lambda role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6824" y="1463040"/>
            <a:ext cx="3493008" cy="4846320"/>
          </a:xfrm>
          <a:prstGeom prst="roundRect">
            <a:avLst>
              <a:gd name="adj" fmla="val 2094"/>
            </a:avLst>
          </a:prstGeom>
          <a:solidFill>
            <a:srgbClr val="12325C"/>
          </a:solidFill>
          <a:ln w="9525">
            <a:solidFill>
              <a:srgbClr val="1232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B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62856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62856" y="24871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token checked before compute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62856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62856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functions, all the logic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62856" y="4279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62856" y="45537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messages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62856" y="5312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62856" y="55869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 finder when a claim is made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1463040"/>
            <a:ext cx="3493008" cy="4846320"/>
          </a:xfrm>
          <a:prstGeom prst="roundRect">
            <a:avLst>
              <a:gd name="adj" fmla="val 2094"/>
            </a:avLst>
          </a:prstGeom>
          <a:solidFill>
            <a:srgbClr val="12325C"/>
          </a:solidFill>
          <a:ln w="9525">
            <a:solidFill>
              <a:srgbClr val="1232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F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02752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02752" y="24871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classifier, moderation, 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02752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02752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Descriptions, matching, verification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02752" y="4279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+ Comprehend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02752" y="45537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languages, detected automatically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02752" y="5312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Service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02752" y="55869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campus map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REKOGNITION CUSTOM LABELS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trained for this problem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63040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04825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16352" y="137160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16352" y="1463040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816352" y="204825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65776" y="137160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65776" y="1463040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65776" y="204825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137160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1463040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200" y="204825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64624" y="137160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64624" y="1463040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h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64624" y="204825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28803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pretrained model does not know my categories. </a:t>
            </a:r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called a set of keys a weapon and a bottle a mason jar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 trained a classifier on the eight categories a lost property counter actually files items under.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" y="39136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is the metric that matters here.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4224528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classification pre-fills a field the user confirms, so a confidently wrong category is far worse than a missed one. Six of the eight labels score a precision of 1.000, meaning the model never puts the wrong category in front of a user for those items.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44068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77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6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model? Still works.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Labels bills per hour while running, so the app falls back to the pretrained labels and says so on screen.</a:t>
            </a:r>
            <a:endParaRPr lang="en-US" sz="1250" dirty="0"/>
          </a:p>
        </p:txBody>
      </p:sp>
      <p:pic>
        <p:nvPicPr>
          <p:cNvPr id="24" name="Image 0" descr="img/60-per-label-performance-annot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880360"/>
            <a:ext cx="5212080" cy="2920842"/>
          </a:xfrm>
          <a:prstGeom prst="rect">
            <a:avLst/>
          </a:prstGeom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pic>
      <p:sp>
        <p:nvSpPr>
          <p:cNvPr id="25" name="Text 22"/>
          <p:cNvSpPr/>
          <p:nvPr/>
        </p:nvSpPr>
        <p:spPr>
          <a:xfrm>
            <a:off x="6446520" y="58521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across the eight labels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an item is yours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listing describes the item, so anybody who reads it can describe it back. Verification uses details the listing never shows.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21408"/>
            <a:ext cx="384048" cy="384048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52728" y="204825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records private details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36976" y="2395728"/>
            <a:ext cx="146304" cy="146304"/>
          </a:xfrm>
          <a:prstGeom prst="rightArrow">
            <a:avLst/>
          </a:prstGeom>
          <a:solidFill>
            <a:srgbClr val="D5DEE8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938528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2121408"/>
            <a:ext cx="384048" cy="384048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96512" y="204825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writes questions that do not reveal them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2395728"/>
            <a:ext cx="146304" cy="146304"/>
          </a:xfrm>
          <a:prstGeom prst="rightArrow">
            <a:avLst/>
          </a:prstGeom>
          <a:solidFill>
            <a:srgbClr val="D5DEE8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938528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7376" y="2121408"/>
            <a:ext cx="384048" cy="384048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0296" y="204825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 answers in their own words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24544" y="2395728"/>
            <a:ext cx="146304" cy="146304"/>
          </a:xfrm>
          <a:prstGeom prst="rightArrow">
            <a:avLst/>
          </a:prstGeom>
          <a:solidFill>
            <a:srgbClr val="D5DEE8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938528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81160" y="2121408"/>
            <a:ext cx="384048" cy="384048"/>
          </a:xfrm>
          <a:prstGeom prst="ellipse">
            <a:avLst/>
          </a:prstGeom>
          <a:solidFill>
            <a:srgbClr val="16805A"/>
          </a:solidFill>
          <a:ln w="12700">
            <a:solidFill>
              <a:srgbClr val="1680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84080" y="204825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scores out of 100, 60 to pass</a:t>
            </a:r>
            <a:endParaRPr lang="en-US" sz="1250" dirty="0"/>
          </a:p>
        </p:txBody>
      </p:sp>
      <p:pic>
        <p:nvPicPr>
          <p:cNvPr id="24" name="Image 0" descr="img/96b-verify-questions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200400"/>
            <a:ext cx="2523744" cy="2246409"/>
          </a:xfrm>
          <a:prstGeom prst="rect">
            <a:avLst/>
          </a:prstGeom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pic>
      <p:sp>
        <p:nvSpPr>
          <p:cNvPr id="25" name="Text 22"/>
          <p:cNvSpPr/>
          <p:nvPr/>
        </p:nvSpPr>
        <p:spPr>
          <a:xfrm>
            <a:off x="566928" y="61447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question gives away its fact</a:t>
            </a:r>
            <a:endParaRPr lang="en-US" sz="1100" dirty="0"/>
          </a:p>
        </p:txBody>
      </p:sp>
      <p:pic>
        <p:nvPicPr>
          <p:cNvPr id="26" name="Image 1" descr="img/97-ui-verify-rejected-annot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3200400"/>
            <a:ext cx="3429000" cy="2829524"/>
          </a:xfrm>
          <a:prstGeom prst="rect">
            <a:avLst/>
          </a:prstGeom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pic>
      <p:pic>
        <p:nvPicPr>
          <p:cNvPr id="27" name="Image 2" descr="img/102-ui-verify-approved-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3200400"/>
            <a:ext cx="3291840" cy="2833845"/>
          </a:xfrm>
          <a:prstGeom prst="rect">
            <a:avLst/>
          </a:prstGeom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pic>
      <p:sp>
        <p:nvSpPr>
          <p:cNvPr id="28" name="Text 23"/>
          <p:cNvSpPr/>
          <p:nvPr/>
        </p:nvSpPr>
        <p:spPr>
          <a:xfrm>
            <a:off x="3959352" y="61447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outcomes were tested. A guess fails, a real owner passes.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FIXED THEM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6424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91056"/>
            <a:ext cx="457200" cy="457200"/>
          </a:xfrm>
          <a:prstGeom prst="ellipse">
            <a:avLst/>
          </a:prstGeom>
          <a:solidFill>
            <a:srgbClr val="D97A20"/>
          </a:solidFill>
          <a:ln w="12700">
            <a:solidFill>
              <a:srgbClr val="D97A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 real owner could not answer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8928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9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not to reveal the fact "there is a coin compartment inside", the model stripped the word coin and asked how many compartments the wallet had. The fact never gave a number, so the genuine owner would have failed.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237744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constraint that every question must be answerable from the fact alone, moved generation to Nova Pro, and dropped the temperature to 0.1 so the output is consistent.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090672"/>
            <a:ext cx="1106424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D97A20"/>
          </a:solidFill>
          <a:ln w="12700">
            <a:solidFill>
              <a:srgbClr val="D97A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2735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of watermarks, not items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59359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9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text was being passed to Bedrock as "visible text on the item", so stock photo watermarks came back as "a wallet with labels Mag, Magnit, Magnific".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4078224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the image itself to a multimodal model and dropped the false claim, so the model can judge for itself what is printed on the object.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791456"/>
            <a:ext cx="1106424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992624"/>
            <a:ext cx="457200" cy="457200"/>
          </a:xfrm>
          <a:prstGeom prst="ellipse">
            <a:avLst/>
          </a:prstGeom>
          <a:solidFill>
            <a:srgbClr val="D97A20"/>
          </a:solidFill>
          <a:ln w="12700">
            <a:solidFill>
              <a:srgbClr val="D97A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97433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that cannot stay running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294376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9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Labels bills per hour while a model is running, which is not something a student account can leave on permanently.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577900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path detects a stopped model and falls back to the pretrained labels, and the interface states which model produced the result.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BUILD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enhancements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49240" cy="4855464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011680"/>
            <a:ext cx="384048" cy="384048"/>
          </a:xfrm>
          <a:prstGeom prst="ellipse">
            <a:avLst/>
          </a:prstGeom>
          <a:solidFill>
            <a:srgbClr val="D97A20"/>
          </a:solidFill>
          <a:ln w="12700">
            <a:solidFill>
              <a:srgbClr val="D97A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99032" y="19751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on submission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runs only when somebody asks for it. Running it the moment a report is created, then notifying both parties when a strong match appears, turns Findr from a service people have to search into one that contacts them. It is the single change that would recover the most items.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160520"/>
            <a:ext cx="1453896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6052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report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386584" y="4434840"/>
            <a:ext cx="118872" cy="118872"/>
          </a:xfrm>
          <a:prstGeom prst="rightArrow">
            <a:avLst/>
          </a:prstGeom>
          <a:solidFill>
            <a:srgbClr val="D5DEE8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5456" y="4160520"/>
            <a:ext cx="1453896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416052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match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023360" y="4434840"/>
            <a:ext cx="118872" cy="118872"/>
          </a:xfrm>
          <a:prstGeom prst="rightArrow">
            <a:avLst/>
          </a:prstGeom>
          <a:solidFill>
            <a:srgbClr val="D5DEE8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42232" y="4160520"/>
            <a:ext cx="1453896" cy="658368"/>
          </a:xfrm>
          <a:prstGeom prst="roundRect">
            <a:avLst>
              <a:gd name="adj" fmla="val 11111"/>
            </a:avLst>
          </a:prstGeom>
          <a:solidFill>
            <a:srgbClr val="16805A"/>
          </a:solidFill>
          <a:ln w="9525">
            <a:solidFill>
              <a:srgbClr val="1680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2232" y="416052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notified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5074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action required, which is the point. The information already exists in the database; today it just waits for somebody to go looking for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417320"/>
            <a:ext cx="53675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1600200"/>
            <a:ext cx="384048" cy="384048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04304" y="15727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training set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04304" y="18745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variety for Bottle and Bag, the two categories where the model is most conservative.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2670048"/>
            <a:ext cx="53675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3952" y="2852928"/>
            <a:ext cx="384048" cy="384048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04304" y="2825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04304" y="312724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Shortens the gap between an item being handed in and its owner hearing about it.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3922776"/>
            <a:ext cx="53675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3952" y="4105656"/>
            <a:ext cx="384048" cy="384048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04304" y="40782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sign-in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04304" y="437997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supports it once Amazon SES is configured for the pool.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5175504"/>
            <a:ext cx="53675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sx="100000" sy="100000" kx="0" ky="0" algn="bl" rotWithShape="0" blurRad="114300" dist="25400" dir="5400000">
              <a:srgbClr val="8C9AAB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73952" y="5358384"/>
            <a:ext cx="384048" cy="384048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535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04304" y="5330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integration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004304" y="563270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handed in physically would appear on the platform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108960"/>
            <a:ext cx="6217920" cy="6217920"/>
          </a:xfrm>
          <a:prstGeom prst="ellipse">
            <a:avLst/>
          </a:prstGeom>
          <a:solidFill>
            <a:srgbClr val="0E2A4E"/>
          </a:solidFill>
          <a:ln w="12700">
            <a:solidFill>
              <a:srgbClr val="0E2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965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0B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377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link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14400" y="352044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12325C"/>
          </a:solidFill>
          <a:ln w="12700">
            <a:solidFill>
              <a:srgbClr val="1232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5204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https://youtu.be/hrbYugO_jg8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to YouTube and set to Unlisted.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89720" y="22402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Findr</a:t>
            </a:r>
            <a:endParaRPr lang="en-US" sz="3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d3d5h347656j6.cloudfront.net</a:t>
            </a:r>
            <a:endParaRPr lang="en-US" sz="3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Hannan Noor</a:t>
            </a:r>
            <a:endParaRPr lang="en-US" sz="3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XXXXXXXX  ·  PC02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9189720" y="489204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img/tp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5020056"/>
            <a:ext cx="1737360" cy="4846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Findr</dc:title>
  <dc:subject>PptxGenJS Presentation</dc:subject>
  <dc:creator>Mohammed Hannan Noor</dc:creator>
  <cp:lastModifiedBy>Mohammed Hannan Noor</cp:lastModifiedBy>
  <cp:revision>1</cp:revision>
  <dcterms:created xsi:type="dcterms:W3CDTF">2026-08-16T15:33:17Z</dcterms:created>
  <dcterms:modified xsi:type="dcterms:W3CDTF">2026-08-16T15:33:17Z</dcterms:modified>
</cp:coreProperties>
</file>